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9" r:id="rId5"/>
    <p:sldId id="256" r:id="rId6"/>
    <p:sldId id="257" r:id="rId7"/>
    <p:sldId id="271" r:id="rId8"/>
    <p:sldId id="272" r:id="rId9"/>
    <p:sldId id="304" r:id="rId10"/>
    <p:sldId id="269" r:id="rId11"/>
    <p:sldId id="305" r:id="rId12"/>
    <p:sldId id="30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536" userDrawn="1">
          <p15:clr>
            <a:srgbClr val="A4A3A4"/>
          </p15:clr>
        </p15:guide>
        <p15:guide id="2" orient="horz" pos="388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BFD8881-B8EF-A3A8-0DF1-7612FB82037B}" name="Colby Witherup Wood" initials="" userId="S::cew588@ads.northwestern.edu::accba222-3a6e-49e9-b628-2eecdfbc3796" providerId="AD"/>
  <p188:author id="{DD1DDF8C-1F6C-D3B8-9A71-8D4AA527FCC5}" name="Emilio Lehoucq" initials="EL" userId="S::elm8295@ads.northwestern.edu::fb1e86bc-2dff-49e3-9a0f-9c63245e88a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0EE"/>
    <a:srgbClr val="000000"/>
    <a:srgbClr val="4E2A84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15701-E6B3-524D-FD41-049BDAC76A6F}" v="5" dt="2026-03-16T19:12:49.0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>
        <p:guide pos="7536"/>
        <p:guide orient="horz"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M Geller" userId="S::amg416@ads.northwestern.edu::d8a535b4-4966-43c9-9db3-0de26afd9189" providerId="AD" clId="Web-{62215701-E6B3-524D-FD41-049BDAC76A6F}"/>
    <pc:docChg chg="modSld">
      <pc:chgData name="Aaron M Geller" userId="S::amg416@ads.northwestern.edu::d8a535b4-4966-43c9-9db3-0de26afd9189" providerId="AD" clId="Web-{62215701-E6B3-524D-FD41-049BDAC76A6F}" dt="2026-03-16T19:12:49.087" v="4" actId="20577"/>
      <pc:docMkLst>
        <pc:docMk/>
      </pc:docMkLst>
      <pc:sldChg chg="modSp">
        <pc:chgData name="Aaron M Geller" userId="S::amg416@ads.northwestern.edu::d8a535b4-4966-43c9-9db3-0de26afd9189" providerId="AD" clId="Web-{62215701-E6B3-524D-FD41-049BDAC76A6F}" dt="2026-03-16T19:03:07.581" v="0" actId="20577"/>
        <pc:sldMkLst>
          <pc:docMk/>
          <pc:sldMk cId="3499594374" sldId="257"/>
        </pc:sldMkLst>
        <pc:spChg chg="mod">
          <ac:chgData name="Aaron M Geller" userId="S::amg416@ads.northwestern.edu::d8a535b4-4966-43c9-9db3-0de26afd9189" providerId="AD" clId="Web-{62215701-E6B3-524D-FD41-049BDAC76A6F}" dt="2026-03-16T19:03:07.581" v="0" actId="20577"/>
          <ac:spMkLst>
            <pc:docMk/>
            <pc:sldMk cId="3499594374" sldId="257"/>
            <ac:spMk id="3" creationId="{22736DF4-919B-F686-3891-6FD730359CE9}"/>
          </ac:spMkLst>
        </pc:spChg>
      </pc:sldChg>
      <pc:sldChg chg="modSp">
        <pc:chgData name="Aaron M Geller" userId="S::amg416@ads.northwestern.edu::d8a535b4-4966-43c9-9db3-0de26afd9189" providerId="AD" clId="Web-{62215701-E6B3-524D-FD41-049BDAC76A6F}" dt="2026-03-16T19:12:49.087" v="4" actId="20577"/>
        <pc:sldMkLst>
          <pc:docMk/>
          <pc:sldMk cId="1615984364" sldId="271"/>
        </pc:sldMkLst>
        <pc:spChg chg="mod">
          <ac:chgData name="Aaron M Geller" userId="S::amg416@ads.northwestern.edu::d8a535b4-4966-43c9-9db3-0de26afd9189" providerId="AD" clId="Web-{62215701-E6B3-524D-FD41-049BDAC76A6F}" dt="2026-03-16T19:12:49.087" v="4" actId="20577"/>
          <ac:spMkLst>
            <pc:docMk/>
            <pc:sldMk cId="1615984364" sldId="271"/>
            <ac:spMk id="3" creationId="{A737146B-6CED-6191-6133-907EBC12D8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6EAEC-E2BB-49F7-A1E8-BBCDEB263E2F}" type="datetimeFigureOut">
              <a:t>9/2/26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D536E-7D23-4BBE-AF37-547794D975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7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ep.org/news-and-stories/story/ai-has-environmental-problem-heres-what-world-can-do-about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technologyreview.com/2023/12/01/1084189/making-an-image-with-generative-ai-uses-as-much-energy-as-charging-your-phone/" TargetMode="External"/><Relationship Id="rId4" Type="http://schemas.openxmlformats.org/officeDocument/2006/relationships/hyperlink" Target="https://iea.blob.core.windows.net/assets/6b2fd954-2017-408e-bf08-952fdd62118a/Electricity2024-Analysisandforecastto2026.pdf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Short overview: </a:t>
            </a:r>
            <a:r>
              <a:rPr lang="en-US" dirty="0">
                <a:hlinkClick r:id="rId3"/>
              </a:rPr>
              <a:t>https://www.unep.org/news-and-stories/story/ai-has-environmental-problem-heres-what-world-can-do-about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2024 report by the International Energy Agency: </a:t>
            </a:r>
            <a:r>
              <a:rPr lang="en-US" dirty="0">
                <a:hlinkClick r:id="rId4"/>
              </a:rPr>
              <a:t>https://iea.blob.core.windows.net/assets/6b2fd954-2017-408e-bf08-952fdd62118a/Electricity2024-Analysisandforecastto2026.pdf</a:t>
            </a:r>
            <a:r>
              <a:rPr lang="en-US" dirty="0"/>
              <a:t> </a:t>
            </a:r>
          </a:p>
          <a:p>
            <a:r>
              <a:rPr lang="en-US" dirty="0">
                <a:ea typeface="Calibri"/>
                <a:cs typeface="Calibri"/>
              </a:rPr>
              <a:t>MIT Technology Review article: </a:t>
            </a:r>
            <a:r>
              <a:rPr lang="en-US" dirty="0">
                <a:hlinkClick r:id="rId5"/>
              </a:rPr>
              <a:t>https://www.technologyreview.com/2023/12/01/1084189/making-an-image-with-generative-ai-uses-as-much-energy-as-charging-your-phone/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DEA2B-89C2-451D-8EE9-C90C1D751976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58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D536E-7D23-4BBE-AF37-547794D975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62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6073-908A-89AB-5507-822CDE35C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 w="28575">
            <a:noFill/>
          </a:ln>
        </p:spPr>
        <p:txBody>
          <a:bodyPr anchor="b"/>
          <a:lstStyle>
            <a:lvl1pPr algn="ctr">
              <a:defRPr sz="6000"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B5D14-338A-AF28-3045-3FA3FAA02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6D71A-A875-0AF4-98E8-3B04D5E10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462CF-15CF-3119-44E1-6A2E6DC8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F1063-7CBA-D23D-9D84-C1A45FF9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A5EF-CA8A-CA7E-6CCF-3AD1F04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>
            <a:lvl1pPr>
              <a:defRPr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07CB-A8AB-7E01-AB5D-A840BD66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6D24-2480-B3E0-67D5-B07ABD4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280-DD85-1062-68A5-8334117A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16CE-5AF2-339F-EF34-3572A52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2DB8B-50E4-CF37-7621-4C504094DBEB}"/>
              </a:ext>
            </a:extLst>
          </p:cNvPr>
          <p:cNvSpPr/>
          <p:nvPr userDrawn="1"/>
        </p:nvSpPr>
        <p:spPr>
          <a:xfrm>
            <a:off x="0" y="6695440"/>
            <a:ext cx="12192000" cy="1625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94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A5EF-CA8A-CA7E-6CCF-3AD1F04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>
            <a:lvl1pPr>
              <a:defRPr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07CB-A8AB-7E01-AB5D-A840BD66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6D24-2480-B3E0-67D5-B07ABD4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280-DD85-1062-68A5-8334117A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16CE-5AF2-339F-EF34-3572A52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2DB8B-50E4-CF37-7621-4C504094DBEB}"/>
              </a:ext>
            </a:extLst>
          </p:cNvPr>
          <p:cNvSpPr/>
          <p:nvPr userDrawn="1"/>
        </p:nvSpPr>
        <p:spPr>
          <a:xfrm>
            <a:off x="0" y="6695440"/>
            <a:ext cx="12192000" cy="1625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16A2F-86A8-E51D-CB60-76CA1DE816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271945"/>
            <a:ext cx="4805569" cy="39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4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34E7-1436-76C6-17E4-E9B81F64A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C489A-3327-BAA2-B6D0-1E94C6D1F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729CC-D093-2DEC-B7F9-3D473E150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2A283-CCB8-A9F7-74A3-BDABB4BC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AAB1C-7106-848E-AC67-4388EBC90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17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6805C-7677-5BA5-3E77-500090AA6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4316E-7BAE-0E3C-2BE1-5FA845321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1EF5A7-8C2F-B5C5-3F99-2C856EB0E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CD897-0AB3-934B-3917-3E8E80FF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83E03-7706-1EC1-F7DD-56C25A81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02DD4-3211-4B34-3234-F0906537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0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1461-08A6-744F-EA05-9F55BD210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6F1D7-1940-6104-6174-B3B8641D2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19EC0-31B5-9787-8683-9A186CD26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F0F2AA-EDD0-F912-A234-226F8D0B2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703C0-92A8-8539-BDFA-C6A4AC1930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59945-E157-55F9-C8EB-25E0512B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5A5DB-2F28-FAF3-027F-DE6D0E016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216746-BE3D-B834-E9FE-952C386E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3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B6C7-5F89-2E45-8E7F-35566A2B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59A78-52F4-5F79-B08C-DE6621F9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2A711-B21E-D10B-F4DF-9F62623D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D5E55-D3D3-5A41-9E7A-75484314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60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AC230C-919F-9B7C-79FA-2DF5E23C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EACFA2-3C55-00C1-9574-8F41BB39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9EA1B-8BB9-5A0B-3F91-DCEB437A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28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5AFC-A581-E595-95D4-6A2DB1EF5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A74E-C153-4BBA-CF40-EDE97A9CE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B7AF2-253B-42EA-B5BC-D2695CF9D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52508-9954-B4DA-7F8C-DAEBDC2F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D0EE1-4B99-830B-CA4A-22E0294B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35767-600A-D175-D197-8A224DAF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1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722A5-135B-A757-D0FD-A4962C513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863C5-BC70-7885-2291-59C7E4381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735F8-6EF8-9A24-A687-F8A17C531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B43A1-45FD-D7AA-09A9-BD0501B7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C344F-3409-A560-B59F-45729E61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796D8-6A45-492C-2195-86DD1257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7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8F04-5570-A47D-7A03-F65298807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E1068-6E28-FA1B-3B2F-C47EA9E77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A2979-CA75-1C17-494B-FA9D4949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B9CA7-1FBF-6193-0219-AC97DEB61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D3775-780E-F7F8-1AAA-5A4691F15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22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176430-515A-751B-E949-B3CA043F20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9CFEB-16E6-7B43-7730-03558AF50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A59A5-0EB3-C74B-5890-5AE26D71A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AAFEB-95C8-2B00-5B28-5005189F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42BC8-D6E4-5A50-21BF-B4346DD6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52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Page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056080"/>
            <a:ext cx="12192000" cy="27388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 dirty="0"/>
              <a:t>Separator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9410095" y="-1221619"/>
            <a:ext cx="24622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pic>
        <p:nvPicPr>
          <p:cNvPr id="5" name="Picture 4" descr="NWU PPT Wide Opt 2 - No Wordmark_Separator 1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5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B15F28-A306-A5D7-D083-59D03EF7C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62D0D-9073-A330-E0DD-4156A8917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62D7D-BD9F-49E8-E403-6541D4D99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6C575-D94E-F044-B574-12900C1740FB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C5D9A-4796-E7D7-0E2A-3C4B2BC28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E504C-9D3F-2654-F0C1-9F92974A4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8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github.com/nuitrcs/coding_with_ai_assistanc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bit.ly/rcdsconsul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75E58-52EE-CB4B-78EE-171C3642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5257800" cy="899795"/>
          </a:xfrm>
        </p:spPr>
        <p:txBody>
          <a:bodyPr>
            <a:normAutofit/>
          </a:bodyPr>
          <a:lstStyle/>
          <a:p>
            <a:r>
              <a:rPr lang="en-US" dirty="0"/>
              <a:t>AI for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1A850-AC0C-90DC-51DF-D1084DEE0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Materials for today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To work on your computer.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hlinkClick r:id="rId2"/>
              </a:rPr>
              <a:t>https://github.com/nuitrcs/coding_with_ai_assistance</a:t>
            </a:r>
            <a:r>
              <a:rPr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DEF87A-AE29-9BDA-57F1-2F3721024093}"/>
              </a:ext>
            </a:extLst>
          </p:cNvPr>
          <p:cNvSpPr txBox="1">
            <a:spLocks/>
          </p:cNvSpPr>
          <p:nvPr/>
        </p:nvSpPr>
        <p:spPr>
          <a:xfrm>
            <a:off x="7594899" y="290456"/>
            <a:ext cx="4368501" cy="852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highlight>
                  <a:srgbClr val="00FF00"/>
                </a:highlight>
              </a:rPr>
              <a:t>Workshop starts at 09:32</a:t>
            </a:r>
          </a:p>
        </p:txBody>
      </p:sp>
      <p:pic>
        <p:nvPicPr>
          <p:cNvPr id="5" name="Picture 4" descr="A qr code on a purple background&#10;&#10;Description automatically generated">
            <a:extLst>
              <a:ext uri="{FF2B5EF4-FFF2-40B4-BE49-F238E27FC236}">
                <a16:creationId xmlns:a16="http://schemas.microsoft.com/office/drawing/2014/main" id="{0680D43F-5401-E653-8440-00A369D3F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955" y="4613462"/>
            <a:ext cx="450532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96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584D1-A48E-C229-5469-2F1C1985E5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Coding with AI Assistance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F793BA-B70A-0B4C-2654-004860BE4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Ritika Giri</a:t>
            </a:r>
          </a:p>
          <a:p>
            <a:r>
              <a:rPr lang="en-US" dirty="0"/>
              <a:t>Emilio Lehoucq</a:t>
            </a:r>
          </a:p>
          <a:p>
            <a:r>
              <a:rPr lang="en-US" dirty="0"/>
              <a:t>Colby Witherup Wood</a:t>
            </a:r>
          </a:p>
        </p:txBody>
      </p:sp>
    </p:spTree>
    <p:extLst>
      <p:ext uri="{BB962C8B-B14F-4D97-AF65-F5344CB8AC3E}">
        <p14:creationId xmlns:p14="http://schemas.microsoft.com/office/powerpoint/2010/main" val="3929284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8237-7538-F82E-CF5E-70052A370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24"/>
            <a:ext cx="10515600" cy="899795"/>
          </a:xfrm>
        </p:spPr>
        <p:txBody>
          <a:bodyPr/>
          <a:lstStyle/>
          <a:p>
            <a:r>
              <a:rPr lang="en-US" b="1">
                <a:solidFill>
                  <a:srgbClr val="4E2A84"/>
                </a:solidFill>
              </a:rPr>
              <a:t>This workshop is brought to you by: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36DF4-919B-F686-3891-6FD730359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1989"/>
            <a:ext cx="10515600" cy="419996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Need help?</a:t>
            </a:r>
          </a:p>
          <a:p>
            <a:r>
              <a:rPr lang="en-US" sz="1800" dirty="0"/>
              <a:t>AI, Machine Learning, Data Science</a:t>
            </a:r>
          </a:p>
          <a:p>
            <a:r>
              <a:rPr lang="en-US" sz="1800" dirty="0"/>
              <a:t>Statistics</a:t>
            </a:r>
          </a:p>
          <a:p>
            <a:r>
              <a:rPr lang="en-US" sz="1800" dirty="0"/>
              <a:t>Visualization</a:t>
            </a:r>
          </a:p>
          <a:p>
            <a:r>
              <a:rPr lang="en-US" sz="1800" dirty="0"/>
              <a:t>Collecting web data (scraping, APIs), text analysis, extracting information from text </a:t>
            </a:r>
          </a:p>
          <a:p>
            <a:r>
              <a:rPr lang="en-US" sz="1800" dirty="0"/>
              <a:t>Cleaning, transforming, reformatting, and wrangling data</a:t>
            </a:r>
          </a:p>
          <a:p>
            <a:r>
              <a:rPr lang="en-US" sz="1800" dirty="0"/>
              <a:t>Automating repetitive research tasks</a:t>
            </a:r>
          </a:p>
          <a:p>
            <a:r>
              <a:rPr lang="en-US" sz="1800" dirty="0"/>
              <a:t>Research reproducibility and replicability</a:t>
            </a:r>
          </a:p>
          <a:p>
            <a:r>
              <a:rPr lang="en-US" sz="1800" dirty="0"/>
              <a:t>Programming, computing, data management, etc.</a:t>
            </a:r>
          </a:p>
          <a:p>
            <a:r>
              <a:rPr lang="en-US" sz="1800" dirty="0"/>
              <a:t>R, Python, SQL, MATLAB, Stata, SPSS, SAS, etc.</a:t>
            </a:r>
          </a:p>
          <a:p>
            <a:pPr marL="0" indent="0" algn="ctr">
              <a:spcBef>
                <a:spcPts val="2000"/>
              </a:spcBef>
              <a:buNone/>
            </a:pPr>
            <a:r>
              <a:rPr lang="en-US" sz="3200" dirty="0">
                <a:ea typeface="+mn-lt"/>
                <a:cs typeface="+mn-lt"/>
              </a:rPr>
              <a:t>Request a </a:t>
            </a:r>
            <a:r>
              <a:rPr lang="en-US" sz="3200" b="1" dirty="0">
                <a:solidFill>
                  <a:srgbClr val="00B050"/>
                </a:solidFill>
                <a:ea typeface="+mn-lt"/>
                <a:cs typeface="+mn-lt"/>
              </a:rPr>
              <a:t>FREE</a:t>
            </a:r>
            <a:r>
              <a:rPr lang="en-US" sz="3200" dirty="0">
                <a:solidFill>
                  <a:srgbClr val="00B050"/>
                </a:solidFill>
                <a:ea typeface="+mn-lt"/>
                <a:cs typeface="+mn-lt"/>
              </a:rPr>
              <a:t> </a:t>
            </a:r>
            <a:r>
              <a:rPr lang="en-US" sz="3200" dirty="0">
                <a:ea typeface="+mn-lt"/>
                <a:cs typeface="+mn-lt"/>
              </a:rPr>
              <a:t>consultation at </a:t>
            </a:r>
            <a:r>
              <a:rPr lang="en-US" sz="3200" b="1" dirty="0">
                <a:solidFill>
                  <a:srgbClr val="7030A0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</a:t>
            </a:r>
            <a:r>
              <a:rPr lang="en-US" sz="3200" b="1" dirty="0" err="1">
                <a:solidFill>
                  <a:srgbClr val="7030A0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rcdsconsult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09FC79-E7F4-9004-8097-D165F9AA0BAE}"/>
              </a:ext>
            </a:extLst>
          </p:cNvPr>
          <p:cNvSpPr/>
          <p:nvPr/>
        </p:nvSpPr>
        <p:spPr>
          <a:xfrm>
            <a:off x="0" y="889225"/>
            <a:ext cx="12192000" cy="1278973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tIns="91440" rIns="9144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  <a:t>Northwestern IT </a:t>
            </a:r>
            <a:b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</a:br>
            <a: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  <a:t>Research Computing and Data Services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594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9811-36FF-435C-7BB4-2C99A0D5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7146B-6CED-6191-6133-907EBC12D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984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DB76-6D73-0610-2B21-02DE1213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AA9E-457C-FDC7-CC7F-E31AD284B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Tomorrow: Get Started Safely with AI Coding Agents</a:t>
            </a:r>
          </a:p>
          <a:p>
            <a:r>
              <a:rPr lang="en-US" dirty="0"/>
              <a:t>Tomorrow: Linking VS Code to LLMs</a:t>
            </a:r>
          </a:p>
          <a:p>
            <a:r>
              <a:rPr lang="en-US" dirty="0"/>
              <a:t>Thursday: AI for Data Visualization</a:t>
            </a:r>
          </a:p>
          <a:p>
            <a:r>
              <a:rPr lang="en-US" dirty="0"/>
              <a:t>Thursday: Workflow Strategies for AI Agents</a:t>
            </a:r>
          </a:p>
          <a:p>
            <a:r>
              <a:rPr lang="en-US" dirty="0"/>
              <a:t>November 19: Using LLM APIs through Azure</a:t>
            </a:r>
          </a:p>
          <a:p>
            <a:r>
              <a:rPr lang="en-US" dirty="0"/>
              <a:t>November 19: Using LLMs on Quest</a:t>
            </a:r>
          </a:p>
          <a:p>
            <a:r>
              <a:rPr lang="en-US" dirty="0"/>
              <a:t>Talks about practical applications in the fall!</a:t>
            </a:r>
          </a:p>
        </p:txBody>
      </p:sp>
    </p:spTree>
    <p:extLst>
      <p:ext uri="{BB962C8B-B14F-4D97-AF65-F5344CB8AC3E}">
        <p14:creationId xmlns:p14="http://schemas.microsoft.com/office/powerpoint/2010/main" val="594445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DB76-6D73-0610-2B21-02DE1213D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038"/>
            <a:ext cx="10515600" cy="8997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AI has an environmental impact 🌍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AA9E-457C-FDC7-CC7F-E31AD284B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118"/>
            <a:ext cx="10515600" cy="51800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ea typeface="+mn-lt"/>
                <a:cs typeface="+mn-lt"/>
              </a:rPr>
              <a:t>Carbon footprint due to energy consumption both during model training and usage.</a:t>
            </a:r>
            <a:endParaRPr lang="en-US" sz="4000" dirty="0"/>
          </a:p>
          <a:p>
            <a:r>
              <a:rPr lang="en-US" sz="4000" dirty="0">
                <a:ea typeface="+mn-lt"/>
                <a:cs typeface="+mn-lt"/>
              </a:rPr>
              <a:t>Fresh water evaporated to cool servers.</a:t>
            </a:r>
          </a:p>
          <a:p>
            <a:r>
              <a:rPr lang="en-US" sz="4000" dirty="0">
                <a:ea typeface="+mn-lt"/>
                <a:cs typeface="+mn-lt"/>
              </a:rPr>
              <a:t>E-waste containing hazardous substances generated with the production of hardware.</a:t>
            </a:r>
          </a:p>
        </p:txBody>
      </p:sp>
    </p:spTree>
    <p:extLst>
      <p:ext uri="{BB962C8B-B14F-4D97-AF65-F5344CB8AC3E}">
        <p14:creationId xmlns:p14="http://schemas.microsoft.com/office/powerpoint/2010/main" val="4093799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A345C4ED-BD9D-1C33-1D99-50BAE26C4A8D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41161693-9B81-8479-AACA-750319997F46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C8EBFB4A-CE18-C1A0-B950-DFF2A28F3F49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CCD19715-02E1-664B-8571-BC1FDD58E7B3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E9114B-1404-18EA-E974-807B00F42B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tIns="45720" rIns="914400" bIns="45720" rtlCol="0" anchor="ctr">
            <a:noAutofit/>
          </a:bodyPr>
          <a:lstStyle/>
          <a:p>
            <a:r>
              <a:rPr 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What We Are Seeing</a:t>
            </a:r>
          </a:p>
        </p:txBody>
      </p:sp>
    </p:spTree>
    <p:extLst>
      <p:ext uri="{BB962C8B-B14F-4D97-AF65-F5344CB8AC3E}">
        <p14:creationId xmlns:p14="http://schemas.microsoft.com/office/powerpoint/2010/main" val="3300945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84C5F-82F8-6DFB-9244-2B98CC8E1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9D740255-BAC4-EC59-1045-24E7A9CD70CE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DE5D4DE8-4B58-ED40-AF5F-A504BFC4B2C8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F3FB9A19-71D3-B9AA-444A-F6BFE3F9E0CD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B0AA8058-2CC3-174B-25A9-35DB14E55D46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82867E-1969-7F14-04AE-940A717B086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tIns="45720" rIns="914400" bIns="45720" rtlCol="0" anchor="ctr">
            <a:noAutofit/>
          </a:bodyPr>
          <a:lstStyle/>
          <a:p>
            <a:r>
              <a:rPr 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Key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3288210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E72C5-E3EE-341B-E372-6EF7149A8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7F2145BB-5BB0-5CAC-7719-989092B1681F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C7AC8AF4-3102-34E2-EDE0-17A5BE70204A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5A689F2C-05C1-8CEE-63B6-A0F137C4ADDB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4BC89467-73D9-7971-1974-178D97A16260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C7FE58-BA97-6957-EBCE-54AC522FCCC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tIns="45720" rIns="914400" bIns="45720" rtlCol="0" anchor="ctr">
            <a:noAutofit/>
          </a:bodyPr>
          <a:lstStyle/>
          <a:p>
            <a:r>
              <a:rPr 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Exercise Kickoff</a:t>
            </a:r>
          </a:p>
        </p:txBody>
      </p:sp>
    </p:spTree>
    <p:extLst>
      <p:ext uri="{BB962C8B-B14F-4D97-AF65-F5344CB8AC3E}">
        <p14:creationId xmlns:p14="http://schemas.microsoft.com/office/powerpoint/2010/main" val="705672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BC9924B2BE754D9B1ADDA1D4CEDCCC" ma:contentTypeVersion="31" ma:contentTypeDescription="Create a new document." ma:contentTypeScope="" ma:versionID="8cf469c5b5da4e7e1beeb701fc74e12f">
  <xsd:schema xmlns:xsd="http://www.w3.org/2001/XMLSchema" xmlns:xs="http://www.w3.org/2001/XMLSchema" xmlns:p="http://schemas.microsoft.com/office/2006/metadata/properties" xmlns:ns2="2abaa01e-9938-407e-aa0b-10580c653abd" xmlns:ns3="7be34c64-93b8-4842-bfae-c3106b8c53c2" xmlns:ns4="efce84db-8738-4c7b-9bdc-65b9500871f6" targetNamespace="http://schemas.microsoft.com/office/2006/metadata/properties" ma:root="true" ma:fieldsID="4e5fbcc5ca5388fba0927971ebc0cff4" ns2:_="" ns3:_="" ns4:_="">
    <xsd:import namespace="2abaa01e-9938-407e-aa0b-10580c653abd"/>
    <xsd:import namespace="7be34c64-93b8-4842-bfae-c3106b8c53c2"/>
    <xsd:import namespace="efce84db-8738-4c7b-9bdc-65b9500871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Not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baa01e-9938-407e-aa0b-10580c653a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2d55d72-5afa-45f9-90b6-e0708aeee9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5" nillable="true" ma:displayName="Notes" ma:internalName="Notes">
      <xsd:simpleType>
        <xsd:restriction base="dms:Note">
          <xsd:maxLength value="255"/>
        </xsd:restriction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e34c64-93b8-4842-bfae-c3106b8c53c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e84db-8738-4c7b-9bdc-65b9500871f6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9c316fb5-9e31-4487-b45f-917c480130b2}" ma:internalName="TaxCatchAll" ma:showField="CatchAllData" ma:web="7be34c64-93b8-4842-bfae-c3106b8c5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 xmlns="2abaa01e-9938-407e-aa0b-10580c653abd" xsi:nil="true"/>
    <TaxCatchAll xmlns="efce84db-8738-4c7b-9bdc-65b9500871f6" xsi:nil="true"/>
    <lcf76f155ced4ddcb4097134ff3c332f xmlns="2abaa01e-9938-407e-aa0b-10580c653ab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2D699D9-1B31-4616-8FB0-B4CEE1C491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4F0B86-16AD-498F-88A8-96EA5F4391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baa01e-9938-407e-aa0b-10580c653abd"/>
    <ds:schemaRef ds:uri="7be34c64-93b8-4842-bfae-c3106b8c53c2"/>
    <ds:schemaRef ds:uri="efce84db-8738-4c7b-9bdc-65b9500871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E9614C-AFF3-4042-B96A-BCA0CA447D5C}">
  <ds:schemaRefs>
    <ds:schemaRef ds:uri="7be34c64-93b8-4842-bfae-c3106b8c53c2"/>
    <ds:schemaRef ds:uri="http://schemas.microsoft.com/office/2006/documentManagement/types"/>
    <ds:schemaRef ds:uri="http://schemas.microsoft.com/office/2006/metadata/properties"/>
    <ds:schemaRef ds:uri="efce84db-8738-4c7b-9bdc-65b9500871f6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2abaa01e-9938-407e-aa0b-10580c653abd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302</Words>
  <Application>Microsoft Macintosh PowerPoint</Application>
  <PresentationFormat>Widescreen</PresentationFormat>
  <Paragraphs>44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Courier New</vt:lpstr>
      <vt:lpstr>Office Theme</vt:lpstr>
      <vt:lpstr>AI for Research</vt:lpstr>
      <vt:lpstr>Coding with AI Assistance</vt:lpstr>
      <vt:lpstr>This workshop is brought to you by:</vt:lpstr>
      <vt:lpstr>Agenda</vt:lpstr>
      <vt:lpstr>What’s next?</vt:lpstr>
      <vt:lpstr>AI has an environmental impact 🌍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Efren Nauvoo Cruz Cortes</dc:creator>
  <cp:lastModifiedBy>Emilio Lehoucq</cp:lastModifiedBy>
  <cp:revision>22</cp:revision>
  <dcterms:created xsi:type="dcterms:W3CDTF">2024-09-11T16:32:37Z</dcterms:created>
  <dcterms:modified xsi:type="dcterms:W3CDTF">2026-09-02T14:45:38Z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0x010100A0BC9924B2BE754D9B1ADDA1D4CEDCCC</vt:lpwstr>
  </property>
  <property fmtid="{D5CDD505-2E9C-101B-9397-08002B2CF9AE}" pid="3" name="MediaServiceImageTags">
    <vt:lpwstr/>
  </property>
</Properties>
</file>